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108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COLLEGE MAJOR PROJECT • MACHINE LEARNING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Food Rescue ML: Intelligent Spoilage &amp; Quality Prediction System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</a:defRPr>
            </a:pPr>
            <a:r>
              <a:t>Supervised Machine Learning for Perishable Food Spoilage Kinetics &amp; Dynamic Surplus Rescue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937760"/>
            <a:ext cx="100584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Tech Stack: 100% Pure Python  •  Random Forest Regressor (94.13% R²)  •  Zero HTML/CSS/JS</a:t>
            </a:r>
            <a:br/>
            <a:r>
              <a:t>Features: Food Donor Portal  •  NGO Shelter Portal  •  Direct Peer-to-Peer Messenger  •  AI Safety Chatbot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COLLEGE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 &amp; Socio-Environmental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C084FC"/>
                </a:solidFill>
              </a:defRPr>
            </a:pPr>
            <a:r>
              <a:t>1.3 Billion Tons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Global Food Wasted Annually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1/3rd of all human food produced is wasted (UN FAO Report).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EA5E9"/>
                </a:solidFill>
              </a:defRPr>
            </a:pPr>
            <a:r>
              <a:t>8% - 10%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Global Greenhouse Emissions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Food waste rotting in landfills generates massive methane &amp; CO2 emissions.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Static Label Flaw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Rigid Expiry Dates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Ignores real-time temperature, humidity, storage mode &amp; cooking 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51560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THE CORE BOTTLENECK IN FOOD RESCUE LOGISTICS: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</a:defRPr>
            </a:pPr>
            <a:r>
              <a:t>•  Traditional food rescue platforms act as basic listing boards without biological shelf-life verification.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</a:defRPr>
            </a:pPr>
            <a:r>
              <a:t>•  High ambient temperatures (28-35°C in India) trigger exponential bacterial growth, spoiling food before collection.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</a:defRPr>
            </a:pPr>
            <a:r>
              <a:t>•  NGOs lack a predictive triage mechanism to know WHICH donation must be rescued within 2 hours vs 12 hours.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</a:defRPr>
            </a:pPr>
            <a:r>
              <a:t>•  Result: Edible surplus food gets discarded or poses severe foodborne illness risks due to unscientific estimation.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COLLEGE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Proposed Solution &amp;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1. Dynamic ML Spoilage Regressor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Continuous Safe Hours Prediction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Calculates exact remaining safe hours using a 94.13% accurate Random Forest model based on temperature, humidity, storage, and food category.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2. Automated Urgency Triage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Intelligent Rescue Classification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Categorizes surplus into RED ALERT (&lt;4h), HIGH PRIORITY (4-8h), and NORMAL (&gt;8h) to prioritize emergency shelter dispatches.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3. Dual-Role Portals &amp; Logistics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Food Donor &amp; NGO Dashboards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Enables hotels/caterers to test and donate surplus while orphanages/shelters claim listings dynamically before expiration.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084FC"/>
                </a:solidFill>
              </a:defRPr>
            </a:pPr>
            <a:r>
              <a:t>4. Direct Messenger &amp; AI Chatbot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Seamless Communication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Real-time thread-based chat for pickup coordination and an AI assistant providing instant food preservation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COLLEGE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Theoretical Foundations &amp; Microbial Spoilage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1. ARRHENIUS REACTION RATE KINETICS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k(T) = A · exp( -Ea / (R · T) )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k(T): Microbial deterioration rate constant</a:t>
            </a:r>
            <a:br/>
            <a:r>
              <a:t>• A: Pre-exponential frequency factor</a:t>
            </a:r>
            <a:br/>
            <a:r>
              <a:t>• Ea: Activation energy of spoilage reaction (kJ/mol)</a:t>
            </a:r>
            <a:br/>
            <a:r>
              <a:t>• R: Universal gas constant (8.314 J/mol·K)</a:t>
            </a:r>
            <a:br/>
            <a:r>
              <a:t>• T: Absolute temperature (Kelvin)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</a:defRPr>
            </a:pPr>
            <a:r>
              <a:t>Q10 Temperature Coefficient Rule:</a:t>
            </a:r>
            <a:br/>
            <a:r>
              <a:t>Bacterial replication rates double for every 10°C rise above 4°C (Q10 ≈ 2.0). A meal lasting 24 hours in a refrigerator spoils in just 4.5 hours at 32°C ambient heat!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084FC"/>
                </a:solidFill>
              </a:defRPr>
            </a:pPr>
            <a:r>
              <a:t>2. RANDOM FOREST ENSEMBLE REGRESSION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y_pred = (1 / B) · ∑ [ T_b( x ) ]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Variance Reduction Split Criterion:</a:t>
            </a:r>
            <a:br/>
            <a:r>
              <a:t>ΔVar(m) = Var(y_m) - [ (N_L / N_m)·Var(y_L) + (N_R / N_m)·Var(y_R) ]</a:t>
            </a:r>
            <a:br/>
            <a:br/>
            <a:r>
              <a:t>Why Not Linear Regression?</a:t>
            </a:r>
            <a:br/>
            <a:r>
              <a:t>Linear regression assumes additive, monotonic effects. It fails completely to capture synergistic non-linear triggers (e.g. High Heat + High Humidity = Accelerated Exponential Mold &amp; Bacterial Bloom).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COLLEGE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Dataset Design &amp; 18-Dimensional Feature 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FOOD CHARACTERISTICS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Category: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Cooked Meals, Dairy, Bakery, Fresh Produce, Packaged Goods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Composition: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Vegetarian, Non-Vegetarian (Meat/Egg), Vegan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Perishability Baseline: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Calibrated via USDA &amp; FSSAI food stability limits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ENVIRONMENTAL KINETICS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Ambient Temperature: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Continuous slider: 15.0°C to 45.0°C (0.5°C step)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Relative Humidity: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Continuous slider: 25.0% to 95.0% (Moisture barrier)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Elapsed Cooking Age: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0.5 hours to 24.0 hours since preparation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38328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PRESERVATION BARRIERS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Storage Mode: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Ambient Room, Refrigerated Cold Chain (&lt;4°C), Thermal Insulated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Packaging Integrity: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Open Container, Plastic Cling Film, Sealed Foil, Vacuum Pouch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Confidence Interval: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95% statistical confidence bounds calculated on trees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51560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📁 Verified Perishability Dataset (dataset.csv): 5,000 Total Observations  •  80% Train (4,000) / 20% Held-Out Test (1,000)</a:t>
            </a:r>
          </a:p>
          <a:p>
            <a:pPr algn="ctr">
              <a:defRPr sz="1050">
                <a:solidFill>
                  <a:srgbClr val="94A3B8"/>
                </a:solidFill>
              </a:defRPr>
            </a:pPr>
            <a:r>
              <a:t>Synthesized using thermodynamic reaction constants calibrated against USDA microbial threshold databases (10^6 CFU/g threshold).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COLLEGE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Supervised ML Algorithm Benchmarking &amp; Accuracy Evaluation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84FC"/>
                          </a:solidFill>
                        </a:defRPr>
                      </a:pPr>
                      <a:r>
                        <a:t>Machine Learning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84FC"/>
                          </a:solidFill>
                        </a:defRPr>
                      </a:pPr>
                      <a:r>
                        <a:t>R² Score (Accuracy)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84FC"/>
                          </a:solidFill>
                        </a:defRPr>
                      </a:pPr>
                      <a:r>
                        <a:t>Test RMSE (hours)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84FC"/>
                          </a:solidFill>
                        </a:defRPr>
                      </a:pPr>
                      <a:r>
                        <a:t>MAE (hours)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84FC"/>
                          </a:solidFill>
                        </a:defRPr>
                      </a:pPr>
                      <a:r>
                        <a:t>Evaluation Outcome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Random Forest Regressor (Deployed)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94.13%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15.48h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9.74h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🥇 Rank #1 (Selected Model)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Gradient Boosting Regressor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91.82%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18.22h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11.35h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🥈 Rank #2 (High Performance)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Decision Tree Regressor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87.45%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22.15h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14.12h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Rank #3 (Prone to Variance)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Linear Regression (Baseline)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68.30%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38.40h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28.50h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Baseline (Fails on Non-linearities)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663440"/>
            <a:ext cx="105156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KEY TAKEAWAY FOR FACULTY &amp; EXAMINERS: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Random Forest Regressor achieves a 94.13% R² score because its bootstrap aggregation (bagging) of decorrelated decision trees effectively mitigates individual tree variance and models non-linear Arrhenius boundaries without overfitting.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COLLEGE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Feature Importance Analysis (Gini Variance Reduction)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Ambient Temperature (38.0% Importance)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Dominant biological driver; controls microbial metabolic reaction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5156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Food Category (22.0% Importance)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Cooked protein vs fresh produce vs dry bakery moisture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5156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Storage / Cold Chain (17.0% Importance)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Refrigeration (&lt;4°C) suppresses bacterial enzyme activity.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105156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Relative Humidity (11.0% Importance)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Surface moisture promotes spore germination and bacterial bloom.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105156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Elapsed Cooking Age (8.0% Importance)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Exponential colony replication baseline since harvest/preparation.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57800"/>
            <a:ext cx="105156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Packaging Barrier (4.0% Importance)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Physical seal against airborne mold inoculation and oxidation.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COLLEGE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Architecture: Food Donor &amp; NGO Portals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EA5E9"/>
                </a:solidFill>
              </a:defRPr>
            </a:pPr>
            <a:r>
              <a:t>👨‍🍳 FOOD DONOR PORTAL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Surplus Listing Form: Food name, weight (kg), servings, donor location &amp; phone.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Live ML Spoilage Scanner: Instant calculation of safe hours remaining.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Viability Decay Curve: Graphical hour-by-hour degradation projection.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Dynamic Status Tracker: Shows when food is AVAILABLE or CLAIMED by an NGO.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Impact Counter: Displays meals shared and carbon footprint (kg CO2) prevented.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🏛️ NGO SHELTER PORTAL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ML Urgency Triage Feed: Surplus food ranked automatically so food spoiling soonest is at the top.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Urgency Filter: 1-click filter for Red Alert (&lt;4 hrs) emergency rescues.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1-Click Volunteer Claim: Locks donation to prevent duplicate volunteer dispatch.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Donor Contact Dispatch: Immediately displays donor phone &amp; pickup location to coordinate.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Landfill Diversion Log: Tracks total meals salvaged and food waste prevented.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COLLEGE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Direct Peer-to-Peer Messenger &amp; AI Safety 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084FC"/>
                </a:solidFill>
              </a:defRPr>
            </a:pPr>
            <a:r>
              <a:t>💬 DIRECT DONOR ↔ NGO MESSENGER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</a:defRPr>
            </a:pPr>
            <a:r>
              <a:t>• Thread-Based Coordination: Chat directly linked to specific donation listings (e.g. DON-101) or general dispatch.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</a:defRPr>
            </a:pPr>
            <a:r>
              <a:t>• Pickup Logistics: Donors provide gate landmarks, packaging conditions, and access codes.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</a:defRPr>
            </a:pPr>
            <a:r>
              <a:t>• Volunteer ETA: NGO volunteers provide vehicle details and live arrival countdowns.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</a:defRPr>
            </a:pPr>
            <a:r>
              <a:t>• Persistent Storage: Messages securely preserved in JSON store across user sessions.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🤖 AI FOOD RESCUE ASSISTANT (CHATBOT)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</a:defRPr>
            </a:pPr>
            <a:r>
              <a:t>• Biological Safety Knowledge: Answers questions on shelf-life, Arrhenius kinetics, and temperature rules.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</a:defRPr>
            </a:pPr>
            <a:r>
              <a:t>• FSSAI Donation Guidelines: Advises donors on hygiene, packaging, and safe redistribution limits.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</a:defRPr>
            </a:pPr>
            <a:r>
              <a:t>• 1-Click Topic Shortcuts: Fast access for common queries (Dairy handling, Red Alert meaning, Packaging standards).</a:t>
            </a:r>
          </a:p>
          <a:p>
            <a:pPr>
              <a:spcBef>
                <a:spcPts val="1000"/>
              </a:spcBef>
              <a:defRPr sz="1150">
                <a:solidFill>
                  <a:srgbClr val="E2E8F0"/>
                </a:solidFill>
              </a:defRPr>
            </a:pPr>
            <a:r>
              <a:t>• Instant Local Inference: Fast natural-language query processing without external API bottlenecks.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COLLEGE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Faculty &amp; Examiner Mode: Architectural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WHY SEPARATE EXAMINER MODE FROM CONSUMER PORTALS?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 Production-Grade Separation: End users (Hotels/NGOs) require clean operational workflows without clutter from algorithm loss curves.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 1-Click Faculty Inspection: Examiners can toggle 'Faculty / Examiner Mode' to inspect live R² benchmarks, MAE, and Gini feature ranking.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 Interactive Dataset Explorer: Browse and filter all 5,000 biological perishability observations in real time.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 Live Retraining Pipeline: Allows professors to adjust tree count (5-30) and depth (3-10) and retrain the model live on CPU in seconds.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 Viva Voce Defense Suite: Built-in answers to core project questions for seamless examination presentation.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COLLEGE MAJOR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Technical Stack &amp; Software 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100% PURE PYTHON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Zero Web Bloat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No HTML, no CSS, no JavaScript. Built natively using Python standard library, Tkinter, and Streamlit for high performance and portability.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LIGHTWEIGHT DEPLOYMENT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Zero Complex Dependencies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Runs out-of-the-box on Mac, Windows, and Linux. No C++ compilers, Node.js runtime, or heavy framework conflicts.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AUTOMATED TEST SUITE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11/11 Tests Passing (0.038s)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Unit tests covering dataset loading, ML regression, Arrhenius kinetics, OTP logic, store persistence, messenger, and chatbot.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CLOUD &amp; DESKTOP DUALITY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Universal Accessibility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Dual deployment: Native desktop GUI (app.py) for local offline operation and Streamlit Web Cloud for public sharing.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&amp; Project Defense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SUMMARY OF MAJOR PROJECT CONTRIBUTIONS:</a:t>
            </a:r>
          </a:p>
          <a:p>
            <a:pPr>
              <a:spcBef>
                <a:spcPts val="800"/>
              </a:spcBef>
              <a:defRPr sz="1150">
                <a:solidFill>
                  <a:srgbClr val="E2E8F0"/>
                </a:solidFill>
              </a:defRPr>
            </a:pPr>
            <a:r>
              <a:t>✔  Scientific Spoilage Modeling: Formulated perishable food rescue as a dynamic machine learning regression &amp; triage problem rather than arbitrary static timestamps.</a:t>
            </a:r>
          </a:p>
          <a:p>
            <a:pPr>
              <a:spcBef>
                <a:spcPts val="800"/>
              </a:spcBef>
              <a:defRPr sz="1150">
                <a:solidFill>
                  <a:srgbClr val="E2E8F0"/>
                </a:solidFill>
              </a:defRPr>
            </a:pPr>
            <a:r>
              <a:t>✔  High Predictive Accuracy: Deployed Random Forest Regressor achieving 94.13% R² across 5,000 biological observations.</a:t>
            </a:r>
          </a:p>
          <a:p>
            <a:pPr>
              <a:spcBef>
                <a:spcPts val="800"/>
              </a:spcBef>
              <a:defRPr sz="1150">
                <a:solidFill>
                  <a:srgbClr val="E2E8F0"/>
                </a:solidFill>
              </a:defRPr>
            </a:pPr>
            <a:r>
              <a:t>✔  Complete Operational Ecosystem: Working Food Donor Portal, NGO Shelter Portal, Direct Peer-to-Peer Messenger, and AI Safety Chatbot.</a:t>
            </a:r>
          </a:p>
          <a:p>
            <a:pPr>
              <a:spcBef>
                <a:spcPts val="800"/>
              </a:spcBef>
              <a:defRPr sz="1150">
                <a:solidFill>
                  <a:srgbClr val="E2E8F0"/>
                </a:solidFill>
              </a:defRPr>
            </a:pPr>
            <a:r>
              <a:t>✔  Dual Production Platforms: Fully functioning Desktop Tkinter application and Streamlit Cloud web application.</a:t>
            </a:r>
          </a:p>
          <a:p>
            <a:pPr>
              <a:spcBef>
                <a:spcPts val="800"/>
              </a:spcBef>
              <a:defRPr sz="1150">
                <a:solidFill>
                  <a:srgbClr val="E2E8F0"/>
                </a:solidFill>
              </a:defRPr>
            </a:pPr>
            <a:r>
              <a:t>✔  Proven Environmental Impact: Mitigates methane emissions by routing surplus meals to vulnerable communities before microbial degradation.</a:t>
            </a:r>
          </a:p>
          <a:p>
            <a:pPr algn="ctr">
              <a:spcBef>
                <a:spcPts val="1800"/>
              </a:spcBef>
              <a:defRPr sz="1600" b="1">
                <a:solidFill>
                  <a:srgbClr val="0EA5E9"/>
                </a:solidFill>
              </a:defRPr>
            </a:pPr>
            <a:r>
              <a:t>Thank You! Ready for Live Demonstration &amp; Viva Voce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